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A775B-D441-449C-9739-4D3704A65E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1D2F9-2E24-4373-BF5D-2E8E193BCD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91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1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AFFF-86A5-5DCE-EED3-E137594D8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74E84-F156-8A16-0629-32E080DC2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0617C-3985-DBAB-B515-D3258DBD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03975-4B0B-5E38-4D84-C6AD5BFE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768E4-2172-345C-8FC2-ED6C5254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87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F12A-22BE-6802-5EDE-15E926DE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5013E-0915-3354-29B6-FBEF55B7C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6AF0-88BD-0C36-1A3C-4A9E990D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EB597-7D99-549D-21C8-DADA9A87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38D9E-702F-4BF2-ACCD-92C978FB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7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EB1B-3FF9-4508-9201-844D940C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DA022-E3B7-B4A1-0187-0E2D24DCE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77D29-592B-6E51-FC4B-D14145BD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AEA57-C8C3-A1CF-629C-16B0BB97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AC56-AF22-0725-AF50-05FD8B3B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8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5BAB-CF6C-DAE0-6AAF-E43336D8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36DE-20FA-79A6-EC77-D314A09B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1F013-BF7D-3E8F-330A-E4DEA3731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34D41-56E9-1386-F31C-25DB2F35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A7517-329A-F3A3-1F70-AAF11FE9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741B3-BECB-D1F4-8F65-EBE9BA2C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6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F091-C2B0-BF17-5A39-75A9916B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FD7B0-9BEE-1CFF-0404-834BE1D52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8BEF4-6A3F-189A-AA23-C4015A738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D5A62-8060-ECA7-7E89-C9E346D52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E0B5F-3722-0871-A7E7-340AC4B71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47672-B086-142A-5F80-BDBFE6F0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B6997-C6CD-A3F2-71D5-D9769AA6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60487-D6F6-7375-DD20-ED2EE499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4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7C68-AD97-F81A-1CC6-9944E968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00984-BE96-BAB2-3637-23B51B32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BE0DA-2320-650C-8D0A-7E9BA79B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D076C-3776-F7E2-3D02-7B8E400B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38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AD1B7-4B3B-68B4-1DF7-D5FBE027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E03EF-75EB-3096-3679-9F6EDBE6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6ABD3-EBAB-3C98-1A02-37B1C1D2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36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2AA7-BE8D-7FBE-7DCA-24495A7E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95FE-3914-72E8-0FB9-AE36D5023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DF7BE-73B5-695E-0A49-0C7BA0E30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B03EA-AAE3-5969-2576-C247BE63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5A4EB-04D7-62C8-E7F0-E5868F15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AFFDE-B680-487D-0AD7-DB1CD580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5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9C82-F3E3-2F40-ED47-D8D9D59B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9D364-FE58-981E-D675-F5FC81366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D31AC-09A9-0EB6-A9C0-BDDD21586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A51E3-FBA1-63D0-556A-68BC0892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D5DD-F6D1-28CA-B32F-A1BAAE31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40FE9-3D3A-0412-E0F2-19A70BB3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0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A7DC-050E-350A-AE64-749B76E7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839BE-5E7F-EE8E-36AD-2B5B7944D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7F591-2FBC-9234-3D87-13211559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89D7-328A-92CB-AD65-C4692D64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8B32E-1285-BC5C-D939-BC3F1203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4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C563D-1B70-7911-026F-371C32BE4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10391-9F2E-4BAB-962E-C4410333C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8A17-0395-F95E-0228-D7060493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8C6A5-856C-BED5-DC45-09548094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1CB4C-A789-151A-E7C3-44A12631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334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583819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360272" y="285078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Deck Title/Main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7FFEB-A63D-7128-BD14-C91E8A94E52A}"/>
              </a:ext>
            </a:extLst>
          </p:cNvPr>
          <p:cNvSpPr txBox="1"/>
          <p:nvPr userDrawn="1"/>
        </p:nvSpPr>
        <p:spPr>
          <a:xfrm>
            <a:off x="171041" y="6636069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4957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36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C4D7B-C441-9031-F899-61C11E33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BE9F-3929-EB0F-B40F-BCFAF9079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13CEE-D8E7-E0EA-A393-77DB37E8E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CBEC6-41DA-4FBD-8ECF-A97431BBF0A3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3D71-21CF-B04B-006E-F4366D591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58A8F-8441-11FE-6F5B-F183E1FA3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5F430-7B56-4D13-96F5-081B303AA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75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jpe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C3F7B888-CE1C-13A6-A149-6A9A700F4DA3}"/>
              </a:ext>
            </a:extLst>
          </p:cNvPr>
          <p:cNvSpPr/>
          <p:nvPr/>
        </p:nvSpPr>
        <p:spPr>
          <a:xfrm>
            <a:off x="786580" y="218539"/>
            <a:ext cx="9750215" cy="36213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FDF9D91A-D47A-6F37-18F5-FC451A92FBA3}"/>
              </a:ext>
            </a:extLst>
          </p:cNvPr>
          <p:cNvSpPr/>
          <p:nvPr/>
        </p:nvSpPr>
        <p:spPr>
          <a:xfrm>
            <a:off x="2500777" y="412955"/>
            <a:ext cx="1789471" cy="8480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37EFF8B-1828-3B0A-1251-02DAB341868A}"/>
              </a:ext>
            </a:extLst>
          </p:cNvPr>
          <p:cNvSpPr/>
          <p:nvPr/>
        </p:nvSpPr>
        <p:spPr>
          <a:xfrm>
            <a:off x="2742898" y="861551"/>
            <a:ext cx="1246238" cy="2273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Application code</a:t>
            </a:r>
            <a:endParaRPr lang="en-GB" sz="1000" dirty="0"/>
          </a:p>
        </p:txBody>
      </p:sp>
      <p:pic>
        <p:nvPicPr>
          <p:cNvPr id="123" name="Picture 122" descr="A logo with a cat head&#10;&#10;AI-generated content may be incorrect.">
            <a:extLst>
              <a:ext uri="{FF2B5EF4-FFF2-40B4-BE49-F238E27FC236}">
                <a16:creationId xmlns:a16="http://schemas.microsoft.com/office/drawing/2014/main" id="{1F9758F3-BC90-6BFA-6918-BF085351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073" y="467821"/>
            <a:ext cx="845575" cy="338864"/>
          </a:xfrm>
          <a:prstGeom prst="rect">
            <a:avLst/>
          </a:prstGeom>
        </p:spPr>
      </p:pic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3235370E-B19D-7FBF-31CA-45CF3B2F2CAD}"/>
              </a:ext>
            </a:extLst>
          </p:cNvPr>
          <p:cNvSpPr/>
          <p:nvPr/>
        </p:nvSpPr>
        <p:spPr>
          <a:xfrm>
            <a:off x="5892905" y="412955"/>
            <a:ext cx="1789471" cy="8480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4FE7DB0-C28F-0742-4C4B-EE93C040E9F3}"/>
              </a:ext>
            </a:extLst>
          </p:cNvPr>
          <p:cNvSpPr/>
          <p:nvPr/>
        </p:nvSpPr>
        <p:spPr>
          <a:xfrm>
            <a:off x="6119049" y="844392"/>
            <a:ext cx="1246238" cy="2273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Workflow- pipeline</a:t>
            </a:r>
            <a:endParaRPr lang="en-GB" sz="1000" dirty="0"/>
          </a:p>
        </p:txBody>
      </p:sp>
      <p:pic>
        <p:nvPicPr>
          <p:cNvPr id="126" name="Picture 125" descr="A logo with a cat head&#10;&#10;AI-generated content may be incorrect.">
            <a:extLst>
              <a:ext uri="{FF2B5EF4-FFF2-40B4-BE49-F238E27FC236}">
                <a16:creationId xmlns:a16="http://schemas.microsoft.com/office/drawing/2014/main" id="{FB0A626B-13CA-AF90-9F61-24F8D6FE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805" y="467821"/>
            <a:ext cx="845575" cy="338864"/>
          </a:xfrm>
          <a:prstGeom prst="rect">
            <a:avLst/>
          </a:prstGeom>
        </p:spPr>
      </p:pic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6484D539-978A-8B77-E35A-2FE38726AA87}"/>
              </a:ext>
            </a:extLst>
          </p:cNvPr>
          <p:cNvCxnSpPr>
            <a:cxnSpLocks/>
            <a:stCxn id="121" idx="3"/>
            <a:endCxn id="124" idx="1"/>
          </p:cNvCxnSpPr>
          <p:nvPr/>
        </p:nvCxnSpPr>
        <p:spPr>
          <a:xfrm>
            <a:off x="4290248" y="836971"/>
            <a:ext cx="1602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DCBB4A52-23E9-B3F5-8CA8-0E475176AF93}"/>
              </a:ext>
            </a:extLst>
          </p:cNvPr>
          <p:cNvSpPr/>
          <p:nvPr/>
        </p:nvSpPr>
        <p:spPr>
          <a:xfrm>
            <a:off x="4641139" y="467821"/>
            <a:ext cx="862779" cy="262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Calling pipeline</a:t>
            </a:r>
            <a:endParaRPr lang="en-GB" sz="8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7B23073-618E-659D-F97F-18A212E2DB3A}"/>
              </a:ext>
            </a:extLst>
          </p:cNvPr>
          <p:cNvSpPr/>
          <p:nvPr/>
        </p:nvSpPr>
        <p:spPr>
          <a:xfrm>
            <a:off x="1655205" y="2731601"/>
            <a:ext cx="3049842" cy="8199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9A40C9C-C276-F1AA-8539-CFE5D380DE9A}"/>
              </a:ext>
            </a:extLst>
          </p:cNvPr>
          <p:cNvSpPr/>
          <p:nvPr/>
        </p:nvSpPr>
        <p:spPr>
          <a:xfrm>
            <a:off x="1807597" y="3106146"/>
            <a:ext cx="12462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Publish Docker Image</a:t>
            </a:r>
            <a:endParaRPr lang="en-GB" sz="1000" dirty="0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318E41D3-5387-F320-2429-59FBDAB31F52}"/>
              </a:ext>
            </a:extLst>
          </p:cNvPr>
          <p:cNvSpPr/>
          <p:nvPr/>
        </p:nvSpPr>
        <p:spPr>
          <a:xfrm>
            <a:off x="3409950" y="3112509"/>
            <a:ext cx="1025012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Publish Helm Chart</a:t>
            </a:r>
            <a:endParaRPr lang="en-GB" sz="1000" dirty="0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63DC23C3-4A8E-D26D-C93E-DD881C94E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118" y="2775373"/>
            <a:ext cx="1077860" cy="251093"/>
          </a:xfrm>
          <a:prstGeom prst="rect">
            <a:avLst/>
          </a:prstGeom>
        </p:spPr>
      </p:pic>
      <p:sp>
        <p:nvSpPr>
          <p:cNvPr id="133" name="Rectangle 132">
            <a:extLst>
              <a:ext uri="{FF2B5EF4-FFF2-40B4-BE49-F238E27FC236}">
                <a16:creationId xmlns:a16="http://schemas.microsoft.com/office/drawing/2014/main" id="{8CECF2F7-04D7-EEA8-E731-FD60F7AEA087}"/>
              </a:ext>
            </a:extLst>
          </p:cNvPr>
          <p:cNvSpPr/>
          <p:nvPr/>
        </p:nvSpPr>
        <p:spPr>
          <a:xfrm>
            <a:off x="1655204" y="1635531"/>
            <a:ext cx="7944463" cy="7074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897B3CA-56EA-56F9-0EA5-BD4D9F366A25}"/>
              </a:ext>
            </a:extLst>
          </p:cNvPr>
          <p:cNvSpPr/>
          <p:nvPr/>
        </p:nvSpPr>
        <p:spPr>
          <a:xfrm>
            <a:off x="1798386" y="1881965"/>
            <a:ext cx="1181101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Build</a:t>
            </a:r>
            <a:endParaRPr lang="en-GB" sz="1000" dirty="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A345A3DF-8C7D-223C-3C97-B48BD3D442B7}"/>
              </a:ext>
            </a:extLst>
          </p:cNvPr>
          <p:cNvSpPr/>
          <p:nvPr/>
        </p:nvSpPr>
        <p:spPr>
          <a:xfrm>
            <a:off x="3391211" y="1881965"/>
            <a:ext cx="13138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Unit Test</a:t>
            </a:r>
            <a:endParaRPr lang="en-GB" sz="1000" dirty="0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98EF8B1-C158-E962-210D-0A0AF5169B73}"/>
              </a:ext>
            </a:extLst>
          </p:cNvPr>
          <p:cNvSpPr/>
          <p:nvPr/>
        </p:nvSpPr>
        <p:spPr>
          <a:xfrm>
            <a:off x="5014148" y="1881965"/>
            <a:ext cx="13138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SonarQube Scan</a:t>
            </a:r>
            <a:endParaRPr lang="en-GB" sz="1000" dirty="0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E1FBDC9E-984F-3AE3-01CD-4B9F590468B3}"/>
              </a:ext>
            </a:extLst>
          </p:cNvPr>
          <p:cNvSpPr/>
          <p:nvPr/>
        </p:nvSpPr>
        <p:spPr>
          <a:xfrm>
            <a:off x="6654288" y="1881965"/>
            <a:ext cx="13138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SynK</a:t>
            </a:r>
            <a:r>
              <a:rPr lang="en-US" sz="1000" dirty="0"/>
              <a:t> Scan</a:t>
            </a:r>
            <a:endParaRPr lang="en-GB" sz="1000" dirty="0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28F12B2E-2137-64BE-2735-55D87838DE93}"/>
              </a:ext>
            </a:extLst>
          </p:cNvPr>
          <p:cNvSpPr/>
          <p:nvPr/>
        </p:nvSpPr>
        <p:spPr>
          <a:xfrm>
            <a:off x="8126977" y="1881965"/>
            <a:ext cx="13138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GHAS Scan</a:t>
            </a:r>
            <a:endParaRPr lang="en-GB" sz="10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18C3EEF-7A84-AB7F-8CDD-F347E309205D}"/>
              </a:ext>
            </a:extLst>
          </p:cNvPr>
          <p:cNvSpPr/>
          <p:nvPr/>
        </p:nvSpPr>
        <p:spPr>
          <a:xfrm>
            <a:off x="7740198" y="2717546"/>
            <a:ext cx="2209665" cy="8199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D086C987-4055-FDB1-AFF2-A5EF245023F0}"/>
              </a:ext>
            </a:extLst>
          </p:cNvPr>
          <p:cNvSpPr/>
          <p:nvPr/>
        </p:nvSpPr>
        <p:spPr>
          <a:xfrm>
            <a:off x="8019079" y="3132791"/>
            <a:ext cx="1602658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Sonar report</a:t>
            </a:r>
            <a:endParaRPr lang="en-GB" sz="1000" dirty="0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B8B001CC-805C-9248-8991-54F9999D4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290" y="2831975"/>
            <a:ext cx="973629" cy="296957"/>
          </a:xfrm>
          <a:prstGeom prst="rect">
            <a:avLst/>
          </a:prstGeom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82D92AE-6C3D-F45C-D5A5-84D198053E1A}"/>
              </a:ext>
            </a:extLst>
          </p:cNvPr>
          <p:cNvCxnSpPr>
            <a:cxnSpLocks/>
            <a:stCxn id="133" idx="2"/>
            <a:endCxn id="129" idx="0"/>
          </p:cNvCxnSpPr>
          <p:nvPr/>
        </p:nvCxnSpPr>
        <p:spPr>
          <a:xfrm flipH="1">
            <a:off x="3180126" y="2343001"/>
            <a:ext cx="2447310" cy="38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26B43BD-90A3-D58A-9E31-61A5F2D940B8}"/>
              </a:ext>
            </a:extLst>
          </p:cNvPr>
          <p:cNvCxnSpPr>
            <a:cxnSpLocks/>
            <a:stCxn id="133" idx="2"/>
            <a:endCxn id="139" idx="0"/>
          </p:cNvCxnSpPr>
          <p:nvPr/>
        </p:nvCxnSpPr>
        <p:spPr>
          <a:xfrm>
            <a:off x="5627436" y="2343001"/>
            <a:ext cx="3217595" cy="37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DFD39CDB-9C9E-F353-07C2-BE09640AB67B}"/>
              </a:ext>
            </a:extLst>
          </p:cNvPr>
          <p:cNvSpPr/>
          <p:nvPr/>
        </p:nvSpPr>
        <p:spPr>
          <a:xfrm>
            <a:off x="4832509" y="2432905"/>
            <a:ext cx="882445" cy="2567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Success</a:t>
            </a:r>
            <a:endParaRPr lang="en-GB" sz="900" dirty="0"/>
          </a:p>
        </p:txBody>
      </p:sp>
      <p:sp>
        <p:nvSpPr>
          <p:cNvPr id="145" name="Arrow: Down 144">
            <a:extLst>
              <a:ext uri="{FF2B5EF4-FFF2-40B4-BE49-F238E27FC236}">
                <a16:creationId xmlns:a16="http://schemas.microsoft.com/office/drawing/2014/main" id="{22A4B6A2-DC6B-12CB-1248-C0B355AEE78F}"/>
              </a:ext>
            </a:extLst>
          </p:cNvPr>
          <p:cNvSpPr/>
          <p:nvPr/>
        </p:nvSpPr>
        <p:spPr>
          <a:xfrm>
            <a:off x="3275068" y="1252243"/>
            <a:ext cx="228600" cy="3507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6551C11-3C20-A8E0-4B29-1357EF8424A4}"/>
              </a:ext>
            </a:extLst>
          </p:cNvPr>
          <p:cNvSpPr/>
          <p:nvPr/>
        </p:nvSpPr>
        <p:spPr>
          <a:xfrm>
            <a:off x="786581" y="3810996"/>
            <a:ext cx="9750215" cy="27569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B41976BC-B23B-FC98-3E7E-EE9938DEF15E}"/>
              </a:ext>
            </a:extLst>
          </p:cNvPr>
          <p:cNvSpPr/>
          <p:nvPr/>
        </p:nvSpPr>
        <p:spPr>
          <a:xfrm>
            <a:off x="5029501" y="4196824"/>
            <a:ext cx="1789471" cy="7397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077882E2-BB86-32D2-0D82-A8E58D9E3303}"/>
              </a:ext>
            </a:extLst>
          </p:cNvPr>
          <p:cNvSpPr/>
          <p:nvPr/>
        </p:nvSpPr>
        <p:spPr>
          <a:xfrm>
            <a:off x="5248285" y="4600016"/>
            <a:ext cx="1246238" cy="2273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Env variable</a:t>
            </a:r>
            <a:endParaRPr lang="en-GB" sz="1000" dirty="0"/>
          </a:p>
        </p:txBody>
      </p:sp>
      <p:pic>
        <p:nvPicPr>
          <p:cNvPr id="150" name="Picture 149" descr="A logo with a cat head&#10;&#10;AI-generated content may be incorrect.">
            <a:extLst>
              <a:ext uri="{FF2B5EF4-FFF2-40B4-BE49-F238E27FC236}">
                <a16:creationId xmlns:a16="http://schemas.microsoft.com/office/drawing/2014/main" id="{99DACCC3-F912-9F8C-4B87-8F1A85C54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460" y="4206286"/>
            <a:ext cx="845575" cy="338864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524A2BC-0137-A974-F128-F3D36275E5DC}"/>
              </a:ext>
            </a:extLst>
          </p:cNvPr>
          <p:cNvCxnSpPr>
            <a:cxnSpLocks/>
            <a:stCxn id="148" idx="1"/>
          </p:cNvCxnSpPr>
          <p:nvPr/>
        </p:nvCxnSpPr>
        <p:spPr>
          <a:xfrm flipH="1">
            <a:off x="3680034" y="4566689"/>
            <a:ext cx="1349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989C4609-6595-CD84-42CF-54E2A0CC7AC7}"/>
              </a:ext>
            </a:extLst>
          </p:cNvPr>
          <p:cNvSpPr/>
          <p:nvPr/>
        </p:nvSpPr>
        <p:spPr>
          <a:xfrm>
            <a:off x="3891730" y="4196824"/>
            <a:ext cx="926074" cy="3327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Overwrite chart</a:t>
            </a:r>
            <a:endParaRPr lang="en-GB" sz="800" dirty="0"/>
          </a:p>
        </p:txBody>
      </p:sp>
      <p:sp>
        <p:nvSpPr>
          <p:cNvPr id="153" name="Arrow: Down 152">
            <a:extLst>
              <a:ext uri="{FF2B5EF4-FFF2-40B4-BE49-F238E27FC236}">
                <a16:creationId xmlns:a16="http://schemas.microsoft.com/office/drawing/2014/main" id="{B692FF0B-B539-F1E6-EFE2-3EA572D3CBA6}"/>
              </a:ext>
            </a:extLst>
          </p:cNvPr>
          <p:cNvSpPr/>
          <p:nvPr/>
        </p:nvSpPr>
        <p:spPr>
          <a:xfrm>
            <a:off x="2742898" y="3548906"/>
            <a:ext cx="310934" cy="69801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8797D99-1D20-7D15-B39F-B712E6A2C668}"/>
              </a:ext>
            </a:extLst>
          </p:cNvPr>
          <p:cNvSpPr/>
          <p:nvPr/>
        </p:nvSpPr>
        <p:spPr>
          <a:xfrm>
            <a:off x="6627865" y="2339359"/>
            <a:ext cx="882445" cy="2567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Publish</a:t>
            </a:r>
            <a:endParaRPr lang="en-GB" sz="900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9154399-93FF-6091-2F8B-24E6C96344B7}"/>
              </a:ext>
            </a:extLst>
          </p:cNvPr>
          <p:cNvSpPr/>
          <p:nvPr/>
        </p:nvSpPr>
        <p:spPr>
          <a:xfrm>
            <a:off x="1834793" y="4246925"/>
            <a:ext cx="1859832" cy="7397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3684FB5-1F9F-A162-E54E-9B0E47FF5BC1}"/>
              </a:ext>
            </a:extLst>
          </p:cNvPr>
          <p:cNvSpPr/>
          <p:nvPr/>
        </p:nvSpPr>
        <p:spPr>
          <a:xfrm>
            <a:off x="2024524" y="4547826"/>
            <a:ext cx="1366687" cy="3327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Harnes Pipeline</a:t>
            </a:r>
            <a:endParaRPr lang="en-GB" sz="1000" dirty="0"/>
          </a:p>
        </p:txBody>
      </p:sp>
      <p:pic>
        <p:nvPicPr>
          <p:cNvPr id="164" name="Picture 163" descr="A black and white logo&#10;&#10;AI-generated content may be incorrect.">
            <a:extLst>
              <a:ext uri="{FF2B5EF4-FFF2-40B4-BE49-F238E27FC236}">
                <a16:creationId xmlns:a16="http://schemas.microsoft.com/office/drawing/2014/main" id="{9DE433D9-64B4-B331-A682-095D3BC0A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793" y="4294824"/>
            <a:ext cx="685285" cy="173242"/>
          </a:xfrm>
          <a:prstGeom prst="rect">
            <a:avLst/>
          </a:prstGeom>
        </p:spPr>
      </p:pic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EBEB54D-E0E6-147D-6582-818E33155E1C}"/>
              </a:ext>
            </a:extLst>
          </p:cNvPr>
          <p:cNvSpPr/>
          <p:nvPr/>
        </p:nvSpPr>
        <p:spPr>
          <a:xfrm>
            <a:off x="1459087" y="5349358"/>
            <a:ext cx="8147558" cy="11397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BA0DD5CE-AC98-D2CA-EF7E-52B7124343D7}"/>
              </a:ext>
            </a:extLst>
          </p:cNvPr>
          <p:cNvSpPr/>
          <p:nvPr/>
        </p:nvSpPr>
        <p:spPr>
          <a:xfrm>
            <a:off x="2031502" y="5468093"/>
            <a:ext cx="1867206" cy="5808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9B76EACF-D682-F166-1033-219685052E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156" y="6074436"/>
            <a:ext cx="344513" cy="344513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0B079F2D-2052-9B1A-7AC9-5853CE34C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04" y="6076542"/>
            <a:ext cx="344513" cy="344513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275E1929-2C7C-9D70-2E2D-2746878E4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867" y="6096395"/>
            <a:ext cx="344513" cy="344513"/>
          </a:xfrm>
          <a:prstGeom prst="rect">
            <a:avLst/>
          </a:prstGeom>
        </p:spPr>
      </p:pic>
      <p:sp>
        <p:nvSpPr>
          <p:cNvPr id="180" name="Rectangle 179">
            <a:extLst>
              <a:ext uri="{FF2B5EF4-FFF2-40B4-BE49-F238E27FC236}">
                <a16:creationId xmlns:a16="http://schemas.microsoft.com/office/drawing/2014/main" id="{75E70183-0035-29D1-A68D-91389C7DF61E}"/>
              </a:ext>
            </a:extLst>
          </p:cNvPr>
          <p:cNvSpPr/>
          <p:nvPr/>
        </p:nvSpPr>
        <p:spPr>
          <a:xfrm>
            <a:off x="2470208" y="6118363"/>
            <a:ext cx="570271" cy="2707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Dev</a:t>
            </a:r>
            <a:endParaRPr lang="en-GB" sz="12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300DC26-62F0-3328-D1ED-0E9627574166}"/>
              </a:ext>
            </a:extLst>
          </p:cNvPr>
          <p:cNvSpPr/>
          <p:nvPr/>
        </p:nvSpPr>
        <p:spPr>
          <a:xfrm>
            <a:off x="4745819" y="6103618"/>
            <a:ext cx="570271" cy="2707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Test</a:t>
            </a:r>
            <a:endParaRPr lang="en-GB" sz="12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9715B2F-35B7-0712-F353-A06ABBF93367}"/>
              </a:ext>
            </a:extLst>
          </p:cNvPr>
          <p:cNvSpPr/>
          <p:nvPr/>
        </p:nvSpPr>
        <p:spPr>
          <a:xfrm>
            <a:off x="7325637" y="6167640"/>
            <a:ext cx="1009264" cy="2214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Production </a:t>
            </a:r>
            <a:endParaRPr lang="en-GB" sz="1200" dirty="0"/>
          </a:p>
        </p:txBody>
      </p:sp>
      <p:pic>
        <p:nvPicPr>
          <p:cNvPr id="184" name="Picture 183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AD5FE594-6300-740B-7A43-934F2C232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8229" y="5623709"/>
            <a:ext cx="399219" cy="306510"/>
          </a:xfrm>
          <a:prstGeom prst="rect">
            <a:avLst/>
          </a:prstGeom>
        </p:spPr>
      </p:pic>
      <p:pic>
        <p:nvPicPr>
          <p:cNvPr id="185" name="Picture 184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61D1BD75-B2E2-4867-0ABE-ED28F0D989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5495" y="5632032"/>
            <a:ext cx="399219" cy="306510"/>
          </a:xfrm>
          <a:prstGeom prst="rect">
            <a:avLst/>
          </a:prstGeom>
        </p:spPr>
      </p:pic>
      <p:pic>
        <p:nvPicPr>
          <p:cNvPr id="186" name="Picture 185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17096BF6-5CB9-2990-FAD5-05653975DB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0529" y="5616067"/>
            <a:ext cx="399219" cy="306510"/>
          </a:xfrm>
          <a:prstGeom prst="rect">
            <a:avLst/>
          </a:prstGeom>
        </p:spPr>
      </p:pic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798CAD90-41E9-DB25-2411-81239CBD6737}"/>
              </a:ext>
            </a:extLst>
          </p:cNvPr>
          <p:cNvSpPr/>
          <p:nvPr/>
        </p:nvSpPr>
        <p:spPr>
          <a:xfrm>
            <a:off x="4290817" y="5472237"/>
            <a:ext cx="1867206" cy="5808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9" name="Picture 188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44CBD283-765C-DFF7-7A72-F76A6D7FE9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7544" y="5627853"/>
            <a:ext cx="399219" cy="306510"/>
          </a:xfrm>
          <a:prstGeom prst="rect">
            <a:avLst/>
          </a:prstGeom>
        </p:spPr>
      </p:pic>
      <p:pic>
        <p:nvPicPr>
          <p:cNvPr id="190" name="Picture 189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C8B3A2B5-EA7E-ECC0-2C3C-1787577411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810" y="5636176"/>
            <a:ext cx="399219" cy="306510"/>
          </a:xfrm>
          <a:prstGeom prst="rect">
            <a:avLst/>
          </a:prstGeom>
        </p:spPr>
      </p:pic>
      <p:pic>
        <p:nvPicPr>
          <p:cNvPr id="191" name="Picture 190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1E5E136D-D127-7E6C-FAEA-36A540D76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9844" y="5620211"/>
            <a:ext cx="399219" cy="306510"/>
          </a:xfrm>
          <a:prstGeom prst="rect">
            <a:avLst/>
          </a:prstGeom>
        </p:spPr>
      </p:pic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BD482DE0-FCD8-EA6B-A132-4852E0727EFA}"/>
              </a:ext>
            </a:extLst>
          </p:cNvPr>
          <p:cNvSpPr/>
          <p:nvPr/>
        </p:nvSpPr>
        <p:spPr>
          <a:xfrm>
            <a:off x="6885867" y="5473501"/>
            <a:ext cx="1867206" cy="5808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3" name="Picture 192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7EC8532F-F98F-C610-C0BF-450246BBDA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594" y="5629117"/>
            <a:ext cx="399219" cy="306510"/>
          </a:xfrm>
          <a:prstGeom prst="rect">
            <a:avLst/>
          </a:prstGeom>
        </p:spPr>
      </p:pic>
      <p:pic>
        <p:nvPicPr>
          <p:cNvPr id="194" name="Picture 193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49A25CEA-8B71-2847-CBBD-A6D603645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60" y="5637440"/>
            <a:ext cx="399219" cy="306510"/>
          </a:xfrm>
          <a:prstGeom prst="rect">
            <a:avLst/>
          </a:prstGeom>
        </p:spPr>
      </p:pic>
      <p:pic>
        <p:nvPicPr>
          <p:cNvPr id="195" name="Picture 194" descr="A blue hexagon with a white box and text&#10;&#10;AI-generated content may be incorrect.">
            <a:extLst>
              <a:ext uri="{FF2B5EF4-FFF2-40B4-BE49-F238E27FC236}">
                <a16:creationId xmlns:a16="http://schemas.microsoft.com/office/drawing/2014/main" id="{103046AF-445F-5B00-0233-C95B73289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4894" y="5621475"/>
            <a:ext cx="399219" cy="306510"/>
          </a:xfrm>
          <a:prstGeom prst="rect">
            <a:avLst/>
          </a:prstGeom>
        </p:spPr>
      </p:pic>
      <p:sp>
        <p:nvSpPr>
          <p:cNvPr id="196" name="Arrow: Down 195">
            <a:extLst>
              <a:ext uri="{FF2B5EF4-FFF2-40B4-BE49-F238E27FC236}">
                <a16:creationId xmlns:a16="http://schemas.microsoft.com/office/drawing/2014/main" id="{51F5B5BB-D923-A0C0-BE13-4DEFF80D15C2}"/>
              </a:ext>
            </a:extLst>
          </p:cNvPr>
          <p:cNvSpPr/>
          <p:nvPr/>
        </p:nvSpPr>
        <p:spPr>
          <a:xfrm>
            <a:off x="2677448" y="4986654"/>
            <a:ext cx="157625" cy="37107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0D2C0D0-5A27-8720-DAFD-D5981062A5A0}"/>
              </a:ext>
            </a:extLst>
          </p:cNvPr>
          <p:cNvSpPr/>
          <p:nvPr/>
        </p:nvSpPr>
        <p:spPr>
          <a:xfrm>
            <a:off x="3137087" y="5032919"/>
            <a:ext cx="686101" cy="2344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Deploy</a:t>
            </a:r>
            <a:endParaRPr lang="en-GB" sz="12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912ADD7-093A-1F20-4AB0-3A42E2A34B0E}"/>
              </a:ext>
            </a:extLst>
          </p:cNvPr>
          <p:cNvSpPr/>
          <p:nvPr/>
        </p:nvSpPr>
        <p:spPr>
          <a:xfrm>
            <a:off x="973394" y="412955"/>
            <a:ext cx="813325" cy="3170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CI Pipeline</a:t>
            </a:r>
            <a:endParaRPr lang="en-GB" sz="11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9B03657-88AE-55B2-A139-A2CE693C0B70}"/>
              </a:ext>
            </a:extLst>
          </p:cNvPr>
          <p:cNvSpPr/>
          <p:nvPr/>
        </p:nvSpPr>
        <p:spPr>
          <a:xfrm>
            <a:off x="951414" y="3905259"/>
            <a:ext cx="856183" cy="317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CD Pipeline</a:t>
            </a:r>
            <a:endParaRPr lang="en-GB" sz="11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65640E7-5F7F-109B-7A7A-A90DDD24D4B4}"/>
              </a:ext>
            </a:extLst>
          </p:cNvPr>
          <p:cNvSpPr/>
          <p:nvPr/>
        </p:nvSpPr>
        <p:spPr>
          <a:xfrm>
            <a:off x="4857439" y="2736544"/>
            <a:ext cx="2674374" cy="8199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F81D95B6-4292-B101-B14B-D0BB65C90482}"/>
              </a:ext>
            </a:extLst>
          </p:cNvPr>
          <p:cNvSpPr/>
          <p:nvPr/>
        </p:nvSpPr>
        <p:spPr>
          <a:xfrm>
            <a:off x="4964643" y="3120485"/>
            <a:ext cx="1246235" cy="33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Build Artifact</a:t>
            </a:r>
            <a:endParaRPr lang="en-GB" sz="1000" dirty="0"/>
          </a:p>
        </p:txBody>
      </p:sp>
      <p:pic>
        <p:nvPicPr>
          <p:cNvPr id="221" name="Picture 220" descr="A logo with a cat head&#10;&#10;AI-generated content may be incorrect.">
            <a:extLst>
              <a:ext uri="{FF2B5EF4-FFF2-40B4-BE49-F238E27FC236}">
                <a16:creationId xmlns:a16="http://schemas.microsoft.com/office/drawing/2014/main" id="{2721F904-F456-785C-0B60-C7523FF9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838" y="2744989"/>
            <a:ext cx="845575" cy="338864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5C98E125-A54D-24A1-0E43-7F728359AD1F}"/>
              </a:ext>
            </a:extLst>
          </p:cNvPr>
          <p:cNvSpPr/>
          <p:nvPr/>
        </p:nvSpPr>
        <p:spPr>
          <a:xfrm>
            <a:off x="6388580" y="3117461"/>
            <a:ext cx="978540" cy="32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DLL</a:t>
            </a:r>
            <a:endParaRPr lang="en-GB" sz="1000" dirty="0"/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5E541FD4-048E-8136-CBB0-E0495DA3FC03}"/>
              </a:ext>
            </a:extLst>
          </p:cNvPr>
          <p:cNvCxnSpPr>
            <a:endCxn id="214" idx="0"/>
          </p:cNvCxnSpPr>
          <p:nvPr/>
        </p:nvCxnSpPr>
        <p:spPr>
          <a:xfrm>
            <a:off x="5587760" y="2339359"/>
            <a:ext cx="606866" cy="397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9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F529-E26F-3848-EC17-44638965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98755F9-64D3-F222-9CE1-07EEB72F7730}"/>
              </a:ext>
            </a:extLst>
          </p:cNvPr>
          <p:cNvSpPr/>
          <p:nvPr/>
        </p:nvSpPr>
        <p:spPr>
          <a:xfrm>
            <a:off x="2965708" y="895149"/>
            <a:ext cx="5575004" cy="31908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  <a:latin typeface="Arial Nova" panose="020B0504020202020204" pitchFamily="34" charset="0"/>
              </a:rPr>
              <a:t>GitHub CI Pipeline and Harness CD Pipeline for Cloud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9C97564-BAE1-0D13-18A9-6DA262FD5B3D}"/>
              </a:ext>
            </a:extLst>
          </p:cNvPr>
          <p:cNvSpPr/>
          <p:nvPr/>
        </p:nvSpPr>
        <p:spPr>
          <a:xfrm>
            <a:off x="2396532" y="3470091"/>
            <a:ext cx="6283915" cy="29485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  <a:latin typeface="Arial Nova" panose="020B0504020202020204" pitchFamily="34" charset="0"/>
              </a:rPr>
              <a:t>GitHub CI and CD for On-Prem</a:t>
            </a:r>
          </a:p>
        </p:txBody>
      </p:sp>
      <p:sp>
        <p:nvSpPr>
          <p:cNvPr id="95" name="Text Placeholder 1">
            <a:extLst>
              <a:ext uri="{FF2B5EF4-FFF2-40B4-BE49-F238E27FC236}">
                <a16:creationId xmlns:a16="http://schemas.microsoft.com/office/drawing/2014/main" id="{4592226E-3B95-C90C-6377-643EAC749A64}"/>
              </a:ext>
            </a:extLst>
          </p:cNvPr>
          <p:cNvSpPr txBox="1">
            <a:spLocks/>
          </p:cNvSpPr>
          <p:nvPr/>
        </p:nvSpPr>
        <p:spPr>
          <a:xfrm flipH="1">
            <a:off x="565452" y="365835"/>
            <a:ext cx="8172450" cy="313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rgbClr val="3C2CDA"/>
                </a:solidFill>
              </a:rPr>
              <a:t>Deployment Flow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C9DFF2-C25E-FA1E-F58B-057E01BFC19E}"/>
              </a:ext>
            </a:extLst>
          </p:cNvPr>
          <p:cNvSpPr/>
          <p:nvPr/>
        </p:nvSpPr>
        <p:spPr>
          <a:xfrm>
            <a:off x="2528430" y="1492182"/>
            <a:ext cx="2540595" cy="7108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37F2600-23A2-47F8-F2FC-D29DD7CD3CD4}"/>
              </a:ext>
            </a:extLst>
          </p:cNvPr>
          <p:cNvSpPr/>
          <p:nvPr/>
        </p:nvSpPr>
        <p:spPr>
          <a:xfrm>
            <a:off x="2631603" y="1747205"/>
            <a:ext cx="668211" cy="3006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build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6A5EE37-8455-B59E-1546-86EFCA9DB4F5}"/>
              </a:ext>
            </a:extLst>
          </p:cNvPr>
          <p:cNvCxnSpPr>
            <a:cxnSpLocks/>
            <a:stCxn id="93" idx="3"/>
            <a:endCxn id="96" idx="1"/>
          </p:cNvCxnSpPr>
          <p:nvPr/>
        </p:nvCxnSpPr>
        <p:spPr>
          <a:xfrm flipV="1">
            <a:off x="3299814" y="1885160"/>
            <a:ext cx="225404" cy="1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9EAB7944-AB81-551A-8E9C-C8E6BB03E2BD}"/>
              </a:ext>
            </a:extLst>
          </p:cNvPr>
          <p:cNvSpPr/>
          <p:nvPr/>
        </p:nvSpPr>
        <p:spPr>
          <a:xfrm>
            <a:off x="3525218" y="1716799"/>
            <a:ext cx="637015" cy="3367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unit  test</a:t>
            </a:r>
          </a:p>
        </p:txBody>
      </p:sp>
      <p:pic>
        <p:nvPicPr>
          <p:cNvPr id="97" name="Picture 28" descr="unit testing vector icon 22763030 ...">
            <a:extLst>
              <a:ext uri="{FF2B5EF4-FFF2-40B4-BE49-F238E27FC236}">
                <a16:creationId xmlns:a16="http://schemas.microsoft.com/office/drawing/2014/main" id="{01F6A7A1-1C63-C400-EB0F-1F1E9634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963" y="1469926"/>
            <a:ext cx="337167" cy="33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30" descr="Automation, build, code, devops ...">
            <a:extLst>
              <a:ext uri="{FF2B5EF4-FFF2-40B4-BE49-F238E27FC236}">
                <a16:creationId xmlns:a16="http://schemas.microsoft.com/office/drawing/2014/main" id="{0A3F21E4-C989-29EC-9C1C-DDDE267B0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10" y="1477000"/>
            <a:ext cx="337166" cy="33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03F6FBDA-D32D-DA70-AC60-F0A4BC3A4286}"/>
              </a:ext>
            </a:extLst>
          </p:cNvPr>
          <p:cNvSpPr/>
          <p:nvPr/>
        </p:nvSpPr>
        <p:spPr>
          <a:xfrm>
            <a:off x="4365533" y="1690396"/>
            <a:ext cx="556474" cy="3881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Sonar </a:t>
            </a:r>
          </a:p>
        </p:txBody>
      </p:sp>
      <p:pic>
        <p:nvPicPr>
          <p:cNvPr id="104" name="Picture 20" descr="Code quality and analysis with ...">
            <a:extLst>
              <a:ext uri="{FF2B5EF4-FFF2-40B4-BE49-F238E27FC236}">
                <a16:creationId xmlns:a16="http://schemas.microsoft.com/office/drawing/2014/main" id="{76822958-CD83-D282-27B4-CAEF49300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629" y="1597183"/>
            <a:ext cx="600952" cy="1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90AB93-D96A-BB99-20E7-368CEF72FD32}"/>
              </a:ext>
            </a:extLst>
          </p:cNvPr>
          <p:cNvCxnSpPr>
            <a:cxnSpLocks/>
          </p:cNvCxnSpPr>
          <p:nvPr/>
        </p:nvCxnSpPr>
        <p:spPr>
          <a:xfrm>
            <a:off x="4162267" y="1900977"/>
            <a:ext cx="223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BF1B141-2252-B21D-F2DD-F2F285407607}"/>
              </a:ext>
            </a:extLst>
          </p:cNvPr>
          <p:cNvSpPr/>
          <p:nvPr/>
        </p:nvSpPr>
        <p:spPr>
          <a:xfrm>
            <a:off x="2528430" y="2276782"/>
            <a:ext cx="2540595" cy="8959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343B987-8BCC-E17B-D300-F7118334AAB3}"/>
              </a:ext>
            </a:extLst>
          </p:cNvPr>
          <p:cNvSpPr/>
          <p:nvPr/>
        </p:nvSpPr>
        <p:spPr>
          <a:xfrm>
            <a:off x="3144654" y="2355513"/>
            <a:ext cx="1368352" cy="209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Package Helm Chart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5F38B3E-C9AE-D406-D7C3-59EB87E71CDE}"/>
              </a:ext>
            </a:extLst>
          </p:cNvPr>
          <p:cNvSpPr/>
          <p:nvPr/>
        </p:nvSpPr>
        <p:spPr>
          <a:xfrm>
            <a:off x="3150115" y="2643681"/>
            <a:ext cx="1368352" cy="209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GHAS Scan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DB4FD84-F210-8070-8AD5-05A4AE3F5DDA}"/>
              </a:ext>
            </a:extLst>
          </p:cNvPr>
          <p:cNvSpPr/>
          <p:nvPr/>
        </p:nvSpPr>
        <p:spPr>
          <a:xfrm>
            <a:off x="3129536" y="2931418"/>
            <a:ext cx="1368352" cy="209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Synk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 Scan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18210A7B-4E7F-1DCC-D9C3-19D43E295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63" y="2861443"/>
            <a:ext cx="368306" cy="368306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007A2E53-58BD-3303-CCBE-D78BBDB4DE54}"/>
              </a:ext>
            </a:extLst>
          </p:cNvPr>
          <p:cNvSpPr/>
          <p:nvPr/>
        </p:nvSpPr>
        <p:spPr>
          <a:xfrm>
            <a:off x="5301318" y="1716799"/>
            <a:ext cx="868815" cy="342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Build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Docker Image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48" name="Rectangle 2047">
            <a:extLst>
              <a:ext uri="{FF2B5EF4-FFF2-40B4-BE49-F238E27FC236}">
                <a16:creationId xmlns:a16="http://schemas.microsoft.com/office/drawing/2014/main" id="{9C2FCF25-82D8-59D1-8D09-E037A78BFB13}"/>
              </a:ext>
            </a:extLst>
          </p:cNvPr>
          <p:cNvSpPr/>
          <p:nvPr/>
        </p:nvSpPr>
        <p:spPr>
          <a:xfrm>
            <a:off x="6443922" y="1527359"/>
            <a:ext cx="1160779" cy="8959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49" name="Rectangle 2048">
            <a:extLst>
              <a:ext uri="{FF2B5EF4-FFF2-40B4-BE49-F238E27FC236}">
                <a16:creationId xmlns:a16="http://schemas.microsoft.com/office/drawing/2014/main" id="{D1403FDA-B601-12A2-ECF0-F709054AE8A7}"/>
              </a:ext>
            </a:extLst>
          </p:cNvPr>
          <p:cNvSpPr/>
          <p:nvPr/>
        </p:nvSpPr>
        <p:spPr>
          <a:xfrm>
            <a:off x="6584608" y="1685159"/>
            <a:ext cx="872665" cy="3157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Publish </a:t>
            </a: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Image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8D1DC07F-DCBD-E0E6-8E00-D72B890A2746}"/>
              </a:ext>
            </a:extLst>
          </p:cNvPr>
          <p:cNvSpPr/>
          <p:nvPr/>
        </p:nvSpPr>
        <p:spPr>
          <a:xfrm>
            <a:off x="6584608" y="2045128"/>
            <a:ext cx="872665" cy="3157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Publish </a:t>
            </a: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Helm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9666ED8D-A63A-FF15-C12D-4DD371A789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03" y="1506208"/>
            <a:ext cx="671815" cy="181950"/>
          </a:xfrm>
          <a:prstGeom prst="rect">
            <a:avLst/>
          </a:prstGeom>
        </p:spPr>
      </p:pic>
      <p:sp>
        <p:nvSpPr>
          <p:cNvPr id="2054" name="Rectangle 2053">
            <a:extLst>
              <a:ext uri="{FF2B5EF4-FFF2-40B4-BE49-F238E27FC236}">
                <a16:creationId xmlns:a16="http://schemas.microsoft.com/office/drawing/2014/main" id="{DC4E95DF-7A5E-5C64-48AC-1E96DA5E4215}"/>
              </a:ext>
            </a:extLst>
          </p:cNvPr>
          <p:cNvSpPr/>
          <p:nvPr/>
        </p:nvSpPr>
        <p:spPr>
          <a:xfrm>
            <a:off x="6469624" y="3049721"/>
            <a:ext cx="1073779" cy="2790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Publish Build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D0075C7-F13D-D74A-8801-C01C9101249F}"/>
              </a:ext>
            </a:extLst>
          </p:cNvPr>
          <p:cNvSpPr/>
          <p:nvPr/>
        </p:nvSpPr>
        <p:spPr>
          <a:xfrm>
            <a:off x="6462722" y="2522381"/>
            <a:ext cx="1119963" cy="448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98AD124-339B-3861-5D89-72244068BDFC}"/>
              </a:ext>
            </a:extLst>
          </p:cNvPr>
          <p:cNvSpPr/>
          <p:nvPr/>
        </p:nvSpPr>
        <p:spPr>
          <a:xfrm>
            <a:off x="6604513" y="2724776"/>
            <a:ext cx="829523" cy="1961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Scan Report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060" name="Picture 20" descr="Code quality and analysis with ...">
            <a:extLst>
              <a:ext uri="{FF2B5EF4-FFF2-40B4-BE49-F238E27FC236}">
                <a16:creationId xmlns:a16="http://schemas.microsoft.com/office/drawing/2014/main" id="{15017D6A-FCAC-9030-2987-A06952C12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809" y="2518394"/>
            <a:ext cx="600952" cy="1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1" name="Straight Arrow Connector 2060">
            <a:extLst>
              <a:ext uri="{FF2B5EF4-FFF2-40B4-BE49-F238E27FC236}">
                <a16:creationId xmlns:a16="http://schemas.microsoft.com/office/drawing/2014/main" id="{9D04CEBA-5BBC-8F19-1006-2A7BE07926B3}"/>
              </a:ext>
            </a:extLst>
          </p:cNvPr>
          <p:cNvCxnSpPr>
            <a:cxnSpLocks/>
          </p:cNvCxnSpPr>
          <p:nvPr/>
        </p:nvCxnSpPr>
        <p:spPr>
          <a:xfrm>
            <a:off x="5069025" y="1904748"/>
            <a:ext cx="223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6" name="Straight Arrow Connector 2065">
            <a:extLst>
              <a:ext uri="{FF2B5EF4-FFF2-40B4-BE49-F238E27FC236}">
                <a16:creationId xmlns:a16="http://schemas.microsoft.com/office/drawing/2014/main" id="{1C454243-FED6-CB2C-C7E3-D0B6A719F6D8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6170133" y="1888188"/>
            <a:ext cx="45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nector: Elbow 2071">
            <a:extLst>
              <a:ext uri="{FF2B5EF4-FFF2-40B4-BE49-F238E27FC236}">
                <a16:creationId xmlns:a16="http://schemas.microsoft.com/office/drawing/2014/main" id="{2700DA08-7D8A-1AFC-001A-A5C81697A35A}"/>
              </a:ext>
            </a:extLst>
          </p:cNvPr>
          <p:cNvCxnSpPr>
            <a:cxnSpLocks/>
            <a:endCxn id="2051" idx="1"/>
          </p:cNvCxnSpPr>
          <p:nvPr/>
        </p:nvCxnSpPr>
        <p:spPr>
          <a:xfrm flipV="1">
            <a:off x="4518467" y="2203022"/>
            <a:ext cx="2066141" cy="3352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Connector: Elbow 2075">
            <a:extLst>
              <a:ext uri="{FF2B5EF4-FFF2-40B4-BE49-F238E27FC236}">
                <a16:creationId xmlns:a16="http://schemas.microsoft.com/office/drawing/2014/main" id="{721B7764-797B-9E36-CD4D-18422D56093A}"/>
              </a:ext>
            </a:extLst>
          </p:cNvPr>
          <p:cNvCxnSpPr>
            <a:cxnSpLocks/>
            <a:stCxn id="3" idx="3"/>
            <a:endCxn id="2054" idx="1"/>
          </p:cNvCxnSpPr>
          <p:nvPr/>
        </p:nvCxnSpPr>
        <p:spPr>
          <a:xfrm>
            <a:off x="5069025" y="1847602"/>
            <a:ext cx="1400599" cy="1341633"/>
          </a:xfrm>
          <a:prstGeom prst="bentConnector3">
            <a:avLst>
              <a:gd name="adj1" fmla="val 64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1" name="Connector: Elbow 2080">
            <a:extLst>
              <a:ext uri="{FF2B5EF4-FFF2-40B4-BE49-F238E27FC236}">
                <a16:creationId xmlns:a16="http://schemas.microsoft.com/office/drawing/2014/main" id="{40808D65-C1F9-F6DA-A866-51CA3D414816}"/>
              </a:ext>
            </a:extLst>
          </p:cNvPr>
          <p:cNvCxnSpPr>
            <a:cxnSpLocks/>
            <a:stCxn id="3" idx="3"/>
            <a:endCxn id="2055" idx="1"/>
          </p:cNvCxnSpPr>
          <p:nvPr/>
        </p:nvCxnSpPr>
        <p:spPr>
          <a:xfrm>
            <a:off x="5069025" y="1847602"/>
            <a:ext cx="1393697" cy="899233"/>
          </a:xfrm>
          <a:prstGeom prst="bentConnector3">
            <a:avLst>
              <a:gd name="adj1" fmla="val 55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5B71AE81-203E-1C36-E173-F7F0DB06062B}"/>
              </a:ext>
            </a:extLst>
          </p:cNvPr>
          <p:cNvSpPr/>
          <p:nvPr/>
        </p:nvSpPr>
        <p:spPr>
          <a:xfrm>
            <a:off x="8080106" y="1792774"/>
            <a:ext cx="1059094" cy="342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Harness CD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cxnSp>
        <p:nvCxnSpPr>
          <p:cNvPr id="2086" name="Straight Arrow Connector 2085">
            <a:extLst>
              <a:ext uri="{FF2B5EF4-FFF2-40B4-BE49-F238E27FC236}">
                <a16:creationId xmlns:a16="http://schemas.microsoft.com/office/drawing/2014/main" id="{819EF1FB-FE8F-5E7D-5878-DF2AF7A786F5}"/>
              </a:ext>
            </a:extLst>
          </p:cNvPr>
          <p:cNvCxnSpPr>
            <a:cxnSpLocks/>
            <a:stCxn id="2048" idx="3"/>
            <a:endCxn id="2084" idx="1"/>
          </p:cNvCxnSpPr>
          <p:nvPr/>
        </p:nvCxnSpPr>
        <p:spPr>
          <a:xfrm flipV="1">
            <a:off x="7604701" y="1964163"/>
            <a:ext cx="475405" cy="1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9" name="Picture 2088">
            <a:extLst>
              <a:ext uri="{FF2B5EF4-FFF2-40B4-BE49-F238E27FC236}">
                <a16:creationId xmlns:a16="http://schemas.microsoft.com/office/drawing/2014/main" id="{454B3970-0DCC-69CD-88F6-D7EA609694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670" y="1681322"/>
            <a:ext cx="211537" cy="211537"/>
          </a:xfrm>
          <a:prstGeom prst="rect">
            <a:avLst/>
          </a:prstGeom>
        </p:spPr>
      </p:pic>
      <p:sp>
        <p:nvSpPr>
          <p:cNvPr id="2092" name="Rectangle 2091">
            <a:extLst>
              <a:ext uri="{FF2B5EF4-FFF2-40B4-BE49-F238E27FC236}">
                <a16:creationId xmlns:a16="http://schemas.microsoft.com/office/drawing/2014/main" id="{13DE7523-2AF7-C5FE-8560-BA2743B50240}"/>
              </a:ext>
            </a:extLst>
          </p:cNvPr>
          <p:cNvSpPr/>
          <p:nvPr/>
        </p:nvSpPr>
        <p:spPr>
          <a:xfrm>
            <a:off x="9835555" y="1061609"/>
            <a:ext cx="1486901" cy="16718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093" name="Rectangle 2092">
            <a:extLst>
              <a:ext uri="{FF2B5EF4-FFF2-40B4-BE49-F238E27FC236}">
                <a16:creationId xmlns:a16="http://schemas.microsoft.com/office/drawing/2014/main" id="{8E0278C9-7CD4-0DAE-A611-D220E2EC3E9C}"/>
              </a:ext>
            </a:extLst>
          </p:cNvPr>
          <p:cNvSpPr/>
          <p:nvPr/>
        </p:nvSpPr>
        <p:spPr>
          <a:xfrm>
            <a:off x="9968148" y="1291967"/>
            <a:ext cx="1160779" cy="249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Dev Cluster</a:t>
            </a:r>
          </a:p>
        </p:txBody>
      </p:sp>
      <p:sp>
        <p:nvSpPr>
          <p:cNvPr id="2098" name="Rectangle 2097">
            <a:extLst>
              <a:ext uri="{FF2B5EF4-FFF2-40B4-BE49-F238E27FC236}">
                <a16:creationId xmlns:a16="http://schemas.microsoft.com/office/drawing/2014/main" id="{B11ED0A3-4083-B521-A1F8-E63109C645AF}"/>
              </a:ext>
            </a:extLst>
          </p:cNvPr>
          <p:cNvSpPr/>
          <p:nvPr/>
        </p:nvSpPr>
        <p:spPr>
          <a:xfrm>
            <a:off x="8080106" y="2491787"/>
            <a:ext cx="1059094" cy="342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Overwrite Env Helm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099" name="Picture 2098">
            <a:extLst>
              <a:ext uri="{FF2B5EF4-FFF2-40B4-BE49-F238E27FC236}">
                <a16:creationId xmlns:a16="http://schemas.microsoft.com/office/drawing/2014/main" id="{ECF9DC80-9A22-DA0E-64E9-6594AB2756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515" y="2355513"/>
            <a:ext cx="288168" cy="288168"/>
          </a:xfrm>
          <a:prstGeom prst="rect">
            <a:avLst/>
          </a:prstGeom>
        </p:spPr>
      </p:pic>
      <p:cxnSp>
        <p:nvCxnSpPr>
          <p:cNvPr id="2101" name="Straight Arrow Connector 2100">
            <a:extLst>
              <a:ext uri="{FF2B5EF4-FFF2-40B4-BE49-F238E27FC236}">
                <a16:creationId xmlns:a16="http://schemas.microsoft.com/office/drawing/2014/main" id="{403CBD50-3168-5F03-6EDD-DE97DE753353}"/>
              </a:ext>
            </a:extLst>
          </p:cNvPr>
          <p:cNvCxnSpPr>
            <a:stCxn id="2098" idx="0"/>
            <a:endCxn id="2084" idx="2"/>
          </p:cNvCxnSpPr>
          <p:nvPr/>
        </p:nvCxnSpPr>
        <p:spPr>
          <a:xfrm flipV="1">
            <a:off x="8609653" y="2135552"/>
            <a:ext cx="0" cy="356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6734B526-B0DC-56A9-05D1-07865CFE3288}"/>
              </a:ext>
            </a:extLst>
          </p:cNvPr>
          <p:cNvSpPr/>
          <p:nvPr/>
        </p:nvSpPr>
        <p:spPr>
          <a:xfrm>
            <a:off x="9997866" y="1876405"/>
            <a:ext cx="1160779" cy="249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Test Cluster</a:t>
            </a:r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7B9084DE-8C08-A41E-9255-B18EE0150E81}"/>
              </a:ext>
            </a:extLst>
          </p:cNvPr>
          <p:cNvSpPr/>
          <p:nvPr/>
        </p:nvSpPr>
        <p:spPr>
          <a:xfrm>
            <a:off x="9997866" y="2348639"/>
            <a:ext cx="1160779" cy="249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Prod Cluster</a:t>
            </a:r>
          </a:p>
        </p:txBody>
      </p:sp>
      <p:pic>
        <p:nvPicPr>
          <p:cNvPr id="2111" name="Picture 2110">
            <a:extLst>
              <a:ext uri="{FF2B5EF4-FFF2-40B4-BE49-F238E27FC236}">
                <a16:creationId xmlns:a16="http://schemas.microsoft.com/office/drawing/2014/main" id="{588DAE4F-1CB5-1C9D-1C4D-359A053F2D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940" y="1025389"/>
            <a:ext cx="741390" cy="191218"/>
          </a:xfrm>
          <a:prstGeom prst="rect">
            <a:avLst/>
          </a:prstGeom>
        </p:spPr>
      </p:pic>
      <p:pic>
        <p:nvPicPr>
          <p:cNvPr id="2113" name="Picture 2112">
            <a:extLst>
              <a:ext uri="{FF2B5EF4-FFF2-40B4-BE49-F238E27FC236}">
                <a16:creationId xmlns:a16="http://schemas.microsoft.com/office/drawing/2014/main" id="{1F5DAF8F-A1E1-A9B2-D629-3117948E67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579" y="1314809"/>
            <a:ext cx="378289" cy="212550"/>
          </a:xfrm>
          <a:prstGeom prst="rect">
            <a:avLst/>
          </a:prstGeom>
        </p:spPr>
      </p:pic>
      <p:pic>
        <p:nvPicPr>
          <p:cNvPr id="2115" name="Picture 2114">
            <a:extLst>
              <a:ext uri="{FF2B5EF4-FFF2-40B4-BE49-F238E27FC236}">
                <a16:creationId xmlns:a16="http://schemas.microsoft.com/office/drawing/2014/main" id="{750BC7A6-2559-DC45-7FA5-5121AC05E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450" y="1870182"/>
            <a:ext cx="378289" cy="212550"/>
          </a:xfrm>
          <a:prstGeom prst="rect">
            <a:avLst/>
          </a:prstGeom>
        </p:spPr>
      </p:pic>
      <p:pic>
        <p:nvPicPr>
          <p:cNvPr id="2116" name="Picture 2115">
            <a:extLst>
              <a:ext uri="{FF2B5EF4-FFF2-40B4-BE49-F238E27FC236}">
                <a16:creationId xmlns:a16="http://schemas.microsoft.com/office/drawing/2014/main" id="{0D52FDA3-9E72-716B-92A2-61A7AF8010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894" y="2358808"/>
            <a:ext cx="378289" cy="212550"/>
          </a:xfrm>
          <a:prstGeom prst="rect">
            <a:avLst/>
          </a:prstGeom>
        </p:spPr>
      </p:pic>
      <p:cxnSp>
        <p:nvCxnSpPr>
          <p:cNvPr id="2120" name="Connector: Elbow 2119">
            <a:extLst>
              <a:ext uri="{FF2B5EF4-FFF2-40B4-BE49-F238E27FC236}">
                <a16:creationId xmlns:a16="http://schemas.microsoft.com/office/drawing/2014/main" id="{06C606F4-EF9C-00FF-8FC3-44635F5BCD36}"/>
              </a:ext>
            </a:extLst>
          </p:cNvPr>
          <p:cNvCxnSpPr>
            <a:endCxn id="2093" idx="1"/>
          </p:cNvCxnSpPr>
          <p:nvPr/>
        </p:nvCxnSpPr>
        <p:spPr>
          <a:xfrm flipV="1">
            <a:off x="9176683" y="1416508"/>
            <a:ext cx="791465" cy="5588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Connector: Elbow 2121">
            <a:extLst>
              <a:ext uri="{FF2B5EF4-FFF2-40B4-BE49-F238E27FC236}">
                <a16:creationId xmlns:a16="http://schemas.microsoft.com/office/drawing/2014/main" id="{12F5B39A-4059-3421-2036-36B6C581839A}"/>
              </a:ext>
            </a:extLst>
          </p:cNvPr>
          <p:cNvCxnSpPr>
            <a:stCxn id="2084" idx="3"/>
            <a:endCxn id="2107" idx="1"/>
          </p:cNvCxnSpPr>
          <p:nvPr/>
        </p:nvCxnSpPr>
        <p:spPr>
          <a:xfrm>
            <a:off x="9139200" y="1964163"/>
            <a:ext cx="858666" cy="509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Straight Arrow Connector 2123">
            <a:extLst>
              <a:ext uri="{FF2B5EF4-FFF2-40B4-BE49-F238E27FC236}">
                <a16:creationId xmlns:a16="http://schemas.microsoft.com/office/drawing/2014/main" id="{5D7199CB-EE21-FFE6-8C3B-89F06F492D10}"/>
              </a:ext>
            </a:extLst>
          </p:cNvPr>
          <p:cNvCxnSpPr>
            <a:stCxn id="2084" idx="3"/>
            <a:endCxn id="2106" idx="1"/>
          </p:cNvCxnSpPr>
          <p:nvPr/>
        </p:nvCxnSpPr>
        <p:spPr>
          <a:xfrm>
            <a:off x="9139200" y="1964163"/>
            <a:ext cx="858666" cy="36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0" name="Picture 21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ADC2F5-4C08-2829-210D-653482F331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119" y="3237773"/>
            <a:ext cx="1700231" cy="777307"/>
          </a:xfrm>
          <a:prstGeom prst="rect">
            <a:avLst/>
          </a:prstGeom>
        </p:spPr>
      </p:pic>
      <p:sp>
        <p:nvSpPr>
          <p:cNvPr id="2132" name="Rectangle 2131">
            <a:extLst>
              <a:ext uri="{FF2B5EF4-FFF2-40B4-BE49-F238E27FC236}">
                <a16:creationId xmlns:a16="http://schemas.microsoft.com/office/drawing/2014/main" id="{A79EA01C-A4C5-9BB6-427A-6D4C5FD11985}"/>
              </a:ext>
            </a:extLst>
          </p:cNvPr>
          <p:cNvSpPr/>
          <p:nvPr/>
        </p:nvSpPr>
        <p:spPr>
          <a:xfrm>
            <a:off x="2494979" y="4234023"/>
            <a:ext cx="2540595" cy="7108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133" name="Rectangle 2132">
            <a:extLst>
              <a:ext uri="{FF2B5EF4-FFF2-40B4-BE49-F238E27FC236}">
                <a16:creationId xmlns:a16="http://schemas.microsoft.com/office/drawing/2014/main" id="{843E7C13-F26A-DD61-8A77-BB0E54DB3920}"/>
              </a:ext>
            </a:extLst>
          </p:cNvPr>
          <p:cNvSpPr/>
          <p:nvPr/>
        </p:nvSpPr>
        <p:spPr>
          <a:xfrm>
            <a:off x="2598152" y="4489046"/>
            <a:ext cx="668211" cy="3006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build</a:t>
            </a:r>
          </a:p>
        </p:txBody>
      </p:sp>
      <p:cxnSp>
        <p:nvCxnSpPr>
          <p:cNvPr id="2134" name="Straight Arrow Connector 2133">
            <a:extLst>
              <a:ext uri="{FF2B5EF4-FFF2-40B4-BE49-F238E27FC236}">
                <a16:creationId xmlns:a16="http://schemas.microsoft.com/office/drawing/2014/main" id="{1744B4F8-0D17-B7E1-F951-01736F77BB08}"/>
              </a:ext>
            </a:extLst>
          </p:cNvPr>
          <p:cNvCxnSpPr>
            <a:cxnSpLocks/>
            <a:stCxn id="2133" idx="3"/>
            <a:endCxn id="2135" idx="1"/>
          </p:cNvCxnSpPr>
          <p:nvPr/>
        </p:nvCxnSpPr>
        <p:spPr>
          <a:xfrm flipV="1">
            <a:off x="3266363" y="4627001"/>
            <a:ext cx="225404" cy="1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5" name="Rectangle 2134">
            <a:extLst>
              <a:ext uri="{FF2B5EF4-FFF2-40B4-BE49-F238E27FC236}">
                <a16:creationId xmlns:a16="http://schemas.microsoft.com/office/drawing/2014/main" id="{18B516EE-97BC-3A31-8AAB-504305517617}"/>
              </a:ext>
            </a:extLst>
          </p:cNvPr>
          <p:cNvSpPr/>
          <p:nvPr/>
        </p:nvSpPr>
        <p:spPr>
          <a:xfrm>
            <a:off x="3491767" y="4458640"/>
            <a:ext cx="637015" cy="3367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unit  test</a:t>
            </a:r>
          </a:p>
        </p:txBody>
      </p:sp>
      <p:pic>
        <p:nvPicPr>
          <p:cNvPr id="2136" name="Picture 28" descr="unit testing vector icon 22763030 ...">
            <a:extLst>
              <a:ext uri="{FF2B5EF4-FFF2-40B4-BE49-F238E27FC236}">
                <a16:creationId xmlns:a16="http://schemas.microsoft.com/office/drawing/2014/main" id="{95487C08-F54E-B444-968B-7B6759B5F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512" y="4211767"/>
            <a:ext cx="337167" cy="33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7" name="Picture 30" descr="Automation, build, code, devops ...">
            <a:extLst>
              <a:ext uri="{FF2B5EF4-FFF2-40B4-BE49-F238E27FC236}">
                <a16:creationId xmlns:a16="http://schemas.microsoft.com/office/drawing/2014/main" id="{A00904DC-B30C-022B-0661-3C2FD47DE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259" y="4218841"/>
            <a:ext cx="337166" cy="33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8" name="Rectangle 2137">
            <a:extLst>
              <a:ext uri="{FF2B5EF4-FFF2-40B4-BE49-F238E27FC236}">
                <a16:creationId xmlns:a16="http://schemas.microsoft.com/office/drawing/2014/main" id="{1C06CE30-200F-59BC-46F2-3E35A4A0A209}"/>
              </a:ext>
            </a:extLst>
          </p:cNvPr>
          <p:cNvSpPr/>
          <p:nvPr/>
        </p:nvSpPr>
        <p:spPr>
          <a:xfrm>
            <a:off x="4332082" y="4432237"/>
            <a:ext cx="556474" cy="3881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sonar</a:t>
            </a:r>
          </a:p>
        </p:txBody>
      </p:sp>
      <p:pic>
        <p:nvPicPr>
          <p:cNvPr id="2139" name="Picture 20" descr="Code quality and analysis with ...">
            <a:extLst>
              <a:ext uri="{FF2B5EF4-FFF2-40B4-BE49-F238E27FC236}">
                <a16:creationId xmlns:a16="http://schemas.microsoft.com/office/drawing/2014/main" id="{5423A93B-0207-0529-25D7-BC15C49C0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178" y="4339024"/>
            <a:ext cx="600952" cy="1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0" name="Straight Arrow Connector 2139">
            <a:extLst>
              <a:ext uri="{FF2B5EF4-FFF2-40B4-BE49-F238E27FC236}">
                <a16:creationId xmlns:a16="http://schemas.microsoft.com/office/drawing/2014/main" id="{433FAE87-3065-E806-0A60-501D67CA014D}"/>
              </a:ext>
            </a:extLst>
          </p:cNvPr>
          <p:cNvCxnSpPr>
            <a:cxnSpLocks/>
          </p:cNvCxnSpPr>
          <p:nvPr/>
        </p:nvCxnSpPr>
        <p:spPr>
          <a:xfrm>
            <a:off x="4128816" y="4642818"/>
            <a:ext cx="223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E5E1EF96-9B24-5FB0-1E89-F98F20B2577B}"/>
              </a:ext>
            </a:extLst>
          </p:cNvPr>
          <p:cNvSpPr/>
          <p:nvPr/>
        </p:nvSpPr>
        <p:spPr>
          <a:xfrm>
            <a:off x="2475200" y="5143077"/>
            <a:ext cx="2580151" cy="6655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6D6DC116-EECF-F8B9-7E90-03CC04820BF6}"/>
              </a:ext>
            </a:extLst>
          </p:cNvPr>
          <p:cNvSpPr/>
          <p:nvPr/>
        </p:nvSpPr>
        <p:spPr>
          <a:xfrm>
            <a:off x="3137243" y="5242866"/>
            <a:ext cx="1368352" cy="209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GHAS Scan</a:t>
            </a:r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25A3749E-2EB1-1436-8217-DF880B2AFB2F}"/>
              </a:ext>
            </a:extLst>
          </p:cNvPr>
          <p:cNvSpPr/>
          <p:nvPr/>
        </p:nvSpPr>
        <p:spPr>
          <a:xfrm>
            <a:off x="3116664" y="5530603"/>
            <a:ext cx="1368352" cy="209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Synk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 Scan</a:t>
            </a:r>
          </a:p>
        </p:txBody>
      </p:sp>
      <p:cxnSp>
        <p:nvCxnSpPr>
          <p:cNvPr id="2146" name="Connector: Elbow 2145">
            <a:extLst>
              <a:ext uri="{FF2B5EF4-FFF2-40B4-BE49-F238E27FC236}">
                <a16:creationId xmlns:a16="http://schemas.microsoft.com/office/drawing/2014/main" id="{811F001D-F03B-B241-8D45-9EEF67BE4ED7}"/>
              </a:ext>
            </a:extLst>
          </p:cNvPr>
          <p:cNvCxnSpPr>
            <a:cxnSpLocks/>
            <a:stCxn id="2130" idx="3"/>
            <a:endCxn id="111" idx="1"/>
          </p:cNvCxnSpPr>
          <p:nvPr/>
        </p:nvCxnSpPr>
        <p:spPr>
          <a:xfrm flipV="1">
            <a:off x="1976350" y="2724777"/>
            <a:ext cx="552080" cy="9016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Connector: Elbow 2148">
            <a:extLst>
              <a:ext uri="{FF2B5EF4-FFF2-40B4-BE49-F238E27FC236}">
                <a16:creationId xmlns:a16="http://schemas.microsoft.com/office/drawing/2014/main" id="{E3F31386-59EB-70FF-691E-70AD3CE25CB0}"/>
              </a:ext>
            </a:extLst>
          </p:cNvPr>
          <p:cNvCxnSpPr>
            <a:cxnSpLocks/>
            <a:stCxn id="2130" idx="3"/>
            <a:endCxn id="3" idx="1"/>
          </p:cNvCxnSpPr>
          <p:nvPr/>
        </p:nvCxnSpPr>
        <p:spPr>
          <a:xfrm flipV="1">
            <a:off x="1976350" y="1847602"/>
            <a:ext cx="552080" cy="1778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Connector: Elbow 2154">
            <a:extLst>
              <a:ext uri="{FF2B5EF4-FFF2-40B4-BE49-F238E27FC236}">
                <a16:creationId xmlns:a16="http://schemas.microsoft.com/office/drawing/2014/main" id="{2AA8ED14-73AE-9DE0-4BC4-CB035F287787}"/>
              </a:ext>
            </a:extLst>
          </p:cNvPr>
          <p:cNvCxnSpPr>
            <a:cxnSpLocks/>
            <a:stCxn id="2130" idx="3"/>
            <a:endCxn id="2141" idx="1"/>
          </p:cNvCxnSpPr>
          <p:nvPr/>
        </p:nvCxnSpPr>
        <p:spPr>
          <a:xfrm>
            <a:off x="1976350" y="3626427"/>
            <a:ext cx="498850" cy="18494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8" name="Rectangle 2157">
            <a:extLst>
              <a:ext uri="{FF2B5EF4-FFF2-40B4-BE49-F238E27FC236}">
                <a16:creationId xmlns:a16="http://schemas.microsoft.com/office/drawing/2014/main" id="{9D882933-9FFC-5965-25D0-5C08CF4FFEEC}"/>
              </a:ext>
            </a:extLst>
          </p:cNvPr>
          <p:cNvSpPr/>
          <p:nvPr/>
        </p:nvSpPr>
        <p:spPr>
          <a:xfrm>
            <a:off x="5551537" y="4486853"/>
            <a:ext cx="1160779" cy="5497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159" name="Rectangle 2158">
            <a:extLst>
              <a:ext uri="{FF2B5EF4-FFF2-40B4-BE49-F238E27FC236}">
                <a16:creationId xmlns:a16="http://schemas.microsoft.com/office/drawing/2014/main" id="{C8EA9187-B7C5-9C6E-077A-7EA66823C367}"/>
              </a:ext>
            </a:extLst>
          </p:cNvPr>
          <p:cNvSpPr/>
          <p:nvPr/>
        </p:nvSpPr>
        <p:spPr>
          <a:xfrm>
            <a:off x="5692223" y="4644652"/>
            <a:ext cx="872665" cy="3157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Publish </a:t>
            </a: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Build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161" name="Picture 2160">
            <a:extLst>
              <a:ext uri="{FF2B5EF4-FFF2-40B4-BE49-F238E27FC236}">
                <a16:creationId xmlns:a16="http://schemas.microsoft.com/office/drawing/2014/main" id="{FAAA591D-AE9C-0178-9C13-574FF5994A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518" y="4465701"/>
            <a:ext cx="671815" cy="181950"/>
          </a:xfrm>
          <a:prstGeom prst="rect">
            <a:avLst/>
          </a:prstGeom>
        </p:spPr>
      </p:pic>
      <p:sp>
        <p:nvSpPr>
          <p:cNvPr id="2162" name="Rectangle 2161">
            <a:extLst>
              <a:ext uri="{FF2B5EF4-FFF2-40B4-BE49-F238E27FC236}">
                <a16:creationId xmlns:a16="http://schemas.microsoft.com/office/drawing/2014/main" id="{A3AF9BF2-430E-6419-F752-BAA0A1515692}"/>
              </a:ext>
            </a:extLst>
          </p:cNvPr>
          <p:cNvSpPr/>
          <p:nvPr/>
        </p:nvSpPr>
        <p:spPr>
          <a:xfrm>
            <a:off x="5551537" y="5194382"/>
            <a:ext cx="1160779" cy="448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163" name="Rectangle 2162">
            <a:extLst>
              <a:ext uri="{FF2B5EF4-FFF2-40B4-BE49-F238E27FC236}">
                <a16:creationId xmlns:a16="http://schemas.microsoft.com/office/drawing/2014/main" id="{800A0E9A-4B7B-5EF3-A4C4-45F8784E5B99}"/>
              </a:ext>
            </a:extLst>
          </p:cNvPr>
          <p:cNvSpPr/>
          <p:nvPr/>
        </p:nvSpPr>
        <p:spPr>
          <a:xfrm>
            <a:off x="5693328" y="5396777"/>
            <a:ext cx="829523" cy="1961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Scan Report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164" name="Picture 20" descr="Code quality and analysis with ...">
            <a:extLst>
              <a:ext uri="{FF2B5EF4-FFF2-40B4-BE49-F238E27FC236}">
                <a16:creationId xmlns:a16="http://schemas.microsoft.com/office/drawing/2014/main" id="{698E15DB-27A3-FFD9-45FF-434679CAA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624" y="5190395"/>
            <a:ext cx="600952" cy="1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67" name="Connector: Elbow 2166">
            <a:extLst>
              <a:ext uri="{FF2B5EF4-FFF2-40B4-BE49-F238E27FC236}">
                <a16:creationId xmlns:a16="http://schemas.microsoft.com/office/drawing/2014/main" id="{C4AEAD45-A41F-856F-1D84-7C4DE32E4240}"/>
              </a:ext>
            </a:extLst>
          </p:cNvPr>
          <p:cNvCxnSpPr>
            <a:stCxn id="2132" idx="3"/>
            <a:endCxn id="2158" idx="1"/>
          </p:cNvCxnSpPr>
          <p:nvPr/>
        </p:nvCxnSpPr>
        <p:spPr>
          <a:xfrm>
            <a:off x="5035574" y="4589443"/>
            <a:ext cx="515963" cy="1722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0" name="Connector: Elbow 2169">
            <a:extLst>
              <a:ext uri="{FF2B5EF4-FFF2-40B4-BE49-F238E27FC236}">
                <a16:creationId xmlns:a16="http://schemas.microsoft.com/office/drawing/2014/main" id="{BDE121B0-5D63-D530-A443-9685240E051C}"/>
              </a:ext>
            </a:extLst>
          </p:cNvPr>
          <p:cNvCxnSpPr>
            <a:cxnSpLocks/>
            <a:stCxn id="2132" idx="3"/>
            <a:endCxn id="2162" idx="1"/>
          </p:cNvCxnSpPr>
          <p:nvPr/>
        </p:nvCxnSpPr>
        <p:spPr>
          <a:xfrm>
            <a:off x="5035574" y="4589443"/>
            <a:ext cx="515963" cy="8293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3" name="Rectangle 2172">
            <a:extLst>
              <a:ext uri="{FF2B5EF4-FFF2-40B4-BE49-F238E27FC236}">
                <a16:creationId xmlns:a16="http://schemas.microsoft.com/office/drawing/2014/main" id="{68C17040-4CD1-3D0C-92BE-A7CB2113BF38}"/>
              </a:ext>
            </a:extLst>
          </p:cNvPr>
          <p:cNvSpPr/>
          <p:nvPr/>
        </p:nvSpPr>
        <p:spPr>
          <a:xfrm>
            <a:off x="7188723" y="4933358"/>
            <a:ext cx="1059094" cy="342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 err="1">
                <a:solidFill>
                  <a:prstClr val="black"/>
                </a:solidFill>
                <a:latin typeface="Arial Nova" panose="020B0504020202020204" pitchFamily="34" charset="0"/>
              </a:rPr>
              <a:t>Github</a:t>
            </a: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 Action CD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174" name="Picture 2173">
            <a:extLst>
              <a:ext uri="{FF2B5EF4-FFF2-40B4-BE49-F238E27FC236}">
                <a16:creationId xmlns:a16="http://schemas.microsoft.com/office/drawing/2014/main" id="{1387E7F9-65B5-D1AA-C609-F996F7877C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827" y="4789274"/>
            <a:ext cx="288168" cy="288168"/>
          </a:xfrm>
          <a:prstGeom prst="rect">
            <a:avLst/>
          </a:prstGeom>
        </p:spPr>
      </p:pic>
      <p:cxnSp>
        <p:nvCxnSpPr>
          <p:cNvPr id="2176" name="Connector: Elbow 2175">
            <a:extLst>
              <a:ext uri="{FF2B5EF4-FFF2-40B4-BE49-F238E27FC236}">
                <a16:creationId xmlns:a16="http://schemas.microsoft.com/office/drawing/2014/main" id="{E5B34E7B-79F0-3DB5-B23E-CEF06888CE23}"/>
              </a:ext>
            </a:extLst>
          </p:cNvPr>
          <p:cNvCxnSpPr>
            <a:stCxn id="2158" idx="3"/>
            <a:endCxn id="2173" idx="1"/>
          </p:cNvCxnSpPr>
          <p:nvPr/>
        </p:nvCxnSpPr>
        <p:spPr>
          <a:xfrm>
            <a:off x="6712316" y="4761718"/>
            <a:ext cx="476407" cy="3430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7" name="Rectangle 2176">
            <a:extLst>
              <a:ext uri="{FF2B5EF4-FFF2-40B4-BE49-F238E27FC236}">
                <a16:creationId xmlns:a16="http://schemas.microsoft.com/office/drawing/2014/main" id="{44BF7F02-5538-9FAB-1952-C6C1F51A8C6E}"/>
              </a:ext>
            </a:extLst>
          </p:cNvPr>
          <p:cNvSpPr/>
          <p:nvPr/>
        </p:nvSpPr>
        <p:spPr>
          <a:xfrm>
            <a:off x="8680448" y="4199165"/>
            <a:ext cx="1458150" cy="16718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178" name="Rectangle 2177">
            <a:extLst>
              <a:ext uri="{FF2B5EF4-FFF2-40B4-BE49-F238E27FC236}">
                <a16:creationId xmlns:a16="http://schemas.microsoft.com/office/drawing/2014/main" id="{2BAC99CA-126D-48E6-0824-5181FE92A135}"/>
              </a:ext>
            </a:extLst>
          </p:cNvPr>
          <p:cNvSpPr/>
          <p:nvPr/>
        </p:nvSpPr>
        <p:spPr>
          <a:xfrm>
            <a:off x="8813040" y="4429523"/>
            <a:ext cx="1160779" cy="249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Dev Server</a:t>
            </a:r>
          </a:p>
        </p:txBody>
      </p:sp>
      <p:sp>
        <p:nvSpPr>
          <p:cNvPr id="2180" name="Rectangle 2179">
            <a:extLst>
              <a:ext uri="{FF2B5EF4-FFF2-40B4-BE49-F238E27FC236}">
                <a16:creationId xmlns:a16="http://schemas.microsoft.com/office/drawing/2014/main" id="{063AB456-D1BD-8699-B8E4-1B0DD030A9AF}"/>
              </a:ext>
            </a:extLst>
          </p:cNvPr>
          <p:cNvSpPr/>
          <p:nvPr/>
        </p:nvSpPr>
        <p:spPr>
          <a:xfrm>
            <a:off x="8842758" y="5486195"/>
            <a:ext cx="1160779" cy="249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</a:rPr>
              <a:t>Prod Server</a:t>
            </a:r>
          </a:p>
        </p:txBody>
      </p:sp>
      <p:cxnSp>
        <p:nvCxnSpPr>
          <p:cNvPr id="2186" name="Connector: Elbow 2185">
            <a:extLst>
              <a:ext uri="{FF2B5EF4-FFF2-40B4-BE49-F238E27FC236}">
                <a16:creationId xmlns:a16="http://schemas.microsoft.com/office/drawing/2014/main" id="{B855DE11-8AAD-4158-9D31-4D9AE93A205C}"/>
              </a:ext>
            </a:extLst>
          </p:cNvPr>
          <p:cNvCxnSpPr>
            <a:stCxn id="2173" idx="3"/>
            <a:endCxn id="2178" idx="1"/>
          </p:cNvCxnSpPr>
          <p:nvPr/>
        </p:nvCxnSpPr>
        <p:spPr>
          <a:xfrm flipV="1">
            <a:off x="8247817" y="4554064"/>
            <a:ext cx="565223" cy="5506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8" name="Connector: Elbow 2187">
            <a:extLst>
              <a:ext uri="{FF2B5EF4-FFF2-40B4-BE49-F238E27FC236}">
                <a16:creationId xmlns:a16="http://schemas.microsoft.com/office/drawing/2014/main" id="{8B532ED9-E013-B3C2-1862-9449844C400D}"/>
              </a:ext>
            </a:extLst>
          </p:cNvPr>
          <p:cNvCxnSpPr>
            <a:stCxn id="2173" idx="3"/>
          </p:cNvCxnSpPr>
          <p:nvPr/>
        </p:nvCxnSpPr>
        <p:spPr>
          <a:xfrm>
            <a:off x="8247817" y="5104747"/>
            <a:ext cx="561886" cy="5385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9" name="Rectangle 2188">
            <a:extLst>
              <a:ext uri="{FF2B5EF4-FFF2-40B4-BE49-F238E27FC236}">
                <a16:creationId xmlns:a16="http://schemas.microsoft.com/office/drawing/2014/main" id="{EDD68395-5589-60C4-634B-5F0A87BEA623}"/>
              </a:ext>
            </a:extLst>
          </p:cNvPr>
          <p:cNvSpPr/>
          <p:nvPr/>
        </p:nvSpPr>
        <p:spPr>
          <a:xfrm>
            <a:off x="8825909" y="4960439"/>
            <a:ext cx="1142239" cy="342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Test Server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cxnSp>
        <p:nvCxnSpPr>
          <p:cNvPr id="2191" name="Straight Arrow Connector 2190">
            <a:extLst>
              <a:ext uri="{FF2B5EF4-FFF2-40B4-BE49-F238E27FC236}">
                <a16:creationId xmlns:a16="http://schemas.microsoft.com/office/drawing/2014/main" id="{D9DC99EC-7FF3-13C1-1487-C48BDE430ADD}"/>
              </a:ext>
            </a:extLst>
          </p:cNvPr>
          <p:cNvCxnSpPr>
            <a:cxnSpLocks/>
            <a:stCxn id="2173" idx="3"/>
            <a:endCxn id="2189" idx="1"/>
          </p:cNvCxnSpPr>
          <p:nvPr/>
        </p:nvCxnSpPr>
        <p:spPr>
          <a:xfrm>
            <a:off x="8247817" y="5104747"/>
            <a:ext cx="578092" cy="2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95" name="Picture 2194">
            <a:extLst>
              <a:ext uri="{FF2B5EF4-FFF2-40B4-BE49-F238E27FC236}">
                <a16:creationId xmlns:a16="http://schemas.microsoft.com/office/drawing/2014/main" id="{3BF982D7-E0A1-56CD-6F6F-FA44DAD956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140" y="4427054"/>
            <a:ext cx="240872" cy="240872"/>
          </a:xfrm>
          <a:prstGeom prst="rect">
            <a:avLst/>
          </a:prstGeom>
        </p:spPr>
      </p:pic>
      <p:pic>
        <p:nvPicPr>
          <p:cNvPr id="2196" name="Picture 2195">
            <a:extLst>
              <a:ext uri="{FF2B5EF4-FFF2-40B4-BE49-F238E27FC236}">
                <a16:creationId xmlns:a16="http://schemas.microsoft.com/office/drawing/2014/main" id="{42884AC4-2A02-34F8-54B2-2FF9C3EAF7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276" y="4989732"/>
            <a:ext cx="240872" cy="240872"/>
          </a:xfrm>
          <a:prstGeom prst="rect">
            <a:avLst/>
          </a:prstGeom>
        </p:spPr>
      </p:pic>
      <p:pic>
        <p:nvPicPr>
          <p:cNvPr id="2197" name="Picture 2196">
            <a:extLst>
              <a:ext uri="{FF2B5EF4-FFF2-40B4-BE49-F238E27FC236}">
                <a16:creationId xmlns:a16="http://schemas.microsoft.com/office/drawing/2014/main" id="{2C8FBB1C-645A-E14F-B47E-6CF50C0DE4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065" y="5491082"/>
            <a:ext cx="240872" cy="240872"/>
          </a:xfrm>
          <a:prstGeom prst="rect">
            <a:avLst/>
          </a:prstGeom>
        </p:spPr>
      </p:pic>
      <p:sp>
        <p:nvSpPr>
          <p:cNvPr id="2200" name="Rectangle 2199">
            <a:extLst>
              <a:ext uri="{FF2B5EF4-FFF2-40B4-BE49-F238E27FC236}">
                <a16:creationId xmlns:a16="http://schemas.microsoft.com/office/drawing/2014/main" id="{09397E04-BD41-658B-CE11-70CC525DBDDB}"/>
              </a:ext>
            </a:extLst>
          </p:cNvPr>
          <p:cNvSpPr/>
          <p:nvPr/>
        </p:nvSpPr>
        <p:spPr>
          <a:xfrm>
            <a:off x="551552" y="2865438"/>
            <a:ext cx="999324" cy="2779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 Nova" panose="020B0504020202020204" pitchFamily="34" charset="0"/>
              </a:rPr>
              <a:t>Code Push to GitHub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203" name="Picture 2202">
            <a:extLst>
              <a:ext uri="{FF2B5EF4-FFF2-40B4-BE49-F238E27FC236}">
                <a16:creationId xmlns:a16="http://schemas.microsoft.com/office/drawing/2014/main" id="{1EECE550-3091-C2EA-792E-6D2696BBCA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34" y="1687594"/>
            <a:ext cx="209458" cy="1592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68039F-6844-AD7D-3D4D-8E505319C221}"/>
              </a:ext>
            </a:extLst>
          </p:cNvPr>
          <p:cNvCxnSpPr>
            <a:cxnSpLocks/>
            <a:endCxn id="2132" idx="1"/>
          </p:cNvCxnSpPr>
          <p:nvPr/>
        </p:nvCxnSpPr>
        <p:spPr>
          <a:xfrm>
            <a:off x="2202700" y="4589443"/>
            <a:ext cx="292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483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</Words>
  <Application>Microsoft Office PowerPoint</Application>
  <PresentationFormat>Widescreen</PresentationFormat>
  <Paragraphs>57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Ankan Biswas</dc:creator>
  <cp:lastModifiedBy>Ankan Biswas</cp:lastModifiedBy>
  <cp:revision>2</cp:revision>
  <dcterms:created xsi:type="dcterms:W3CDTF">2025-12-19T08:12:00Z</dcterms:created>
  <dcterms:modified xsi:type="dcterms:W3CDTF">2026-03-02T12:29:23Z</dcterms:modified>
</cp:coreProperties>
</file>